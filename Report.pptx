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77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778"/>
                </a:solidFill>
                <a:latin typeface="Arial"/>
              </a:rPr>
              <a:t>Конверсионная воронка, уникальные пользователи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AEB7C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4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login</c:v>
                  </c:pt>
                  <c:pt idx="1">
                    <c:v>homework_started</c:v>
                  </c:pt>
                  <c:pt idx="2">
                    <c:v>homework_completed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2992</c:v>
                </c:pt>
                <c:pt idx="1">
                  <c:v>2992</c:v>
                </c:pt>
                <c:pt idx="2">
                  <c:v>2921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0E8A7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4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login</c:v>
                  </c:pt>
                  <c:pt idx="1">
                    <c:v>homework_started</c:v>
                  </c:pt>
                  <c:pt idx="2">
                    <c:v>homework_completed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2985</c:v>
                </c:pt>
                <c:pt idx="1">
                  <c:v>2985</c:v>
                </c:pt>
                <c:pt idx="2">
                  <c:v>2950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624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4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0"/>
          <c:min val="0"/>
        </c:scaling>
        <c:delete val="0"/>
        <c:axPos val="l"/>
        <c:majorGridlines>
          <c:spPr>
            <a:ln w="6350" cap="flat">
              <a:solidFill>
                <a:srgbClr val="DDE2E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4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AEB7C4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4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Retention 7D</c:v>
                  </c:pt>
                  <c:pt idx="1">
                    <c:v>Retention 14D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72.69</c:v>
                </c:pt>
                <c:pt idx="1">
                  <c:v>28.81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0E8A7D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4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Retention 7D</c:v>
                  </c:pt>
                  <c:pt idx="1">
                    <c:v>Retention 14D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77.96</c:v>
                </c:pt>
                <c:pt idx="1">
                  <c:v>36.25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624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4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2E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4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AEB7C4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502920"/>
            <a:ext cx="457200" cy="457200"/>
          </a:xfrm>
          <a:prstGeom prst="ellipse">
            <a:avLst/>
          </a:prstGeom>
          <a:solidFill>
            <a:srgbClr val="0E8A7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3-недельного A/B-эксперимента: система достижений и наград на образовательной платформе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проверяли и как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137160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Фича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достижений за регулярное решение задач.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школьники учились регулярнее.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недели: группа A (контроль) и группа B (с геймификацией).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983480" y="15544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7D, Retention 14D, Completion Rate.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Z-тест для двух долей, двусторонний.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pA = pB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pA ≠ pB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значимости α = 0,05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подготовили данные перед анализом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120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1371600"/>
            <a:ext cx="2834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Исходно: 6000 пользователей (6008 строк в таблице групп), 179 330 событий. Удалено 2 дубликата событий.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пользователей попали в обе группы, их исключили (осталось 5992).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пользователей с нелогичным порядком событий (ДЗ до входа или завершение раньше начала), их исключили (осталось 5981).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бота с аномальной активностью (более 50 событий; 99,9% пользователей делают не более 49), их исключили.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5977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46888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пользователей в итоговом анализе: A — 2992, B — 2985.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SRM (χ², после исключения пересечений, A: 2997, B: 2995): p = 0,98, разделение 50/50 корректно.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Группы получились сопоставимыми по размеру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371600"/>
            <a:ext cx="2468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0" y="155448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в размере групп — 7 пользователей (A: 2992, B: 2985).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 начинают все. Различие проявляется только на последнем шаге и дальше, в удержании.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Удержание выросло в обеих точках, сильнее всего на 14-й день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+25,8%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23774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относительный рост Retention 14D (+7,44 п.п.).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7D вырос на 7,24% (+5,26 п.п.).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Доверительные интервалы разности не включают ноль ни в одном из тестов.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Все три метрики статистически значимо лучше в группе B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371600"/>
                <a:gridCol w="1371600"/>
                <a:gridCol w="1051560"/>
                <a:gridCol w="960120"/>
                <a:gridCol w="1417320"/>
                <a:gridCol w="914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Прирост, абс.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Прирост, отн.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ДИ разности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7D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72,69% (2175/2992)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77,96% (2327/2985)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8A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+5,26 п.п.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+7,24%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[+3,08; +7,44] п.п.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0,0000024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14D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28,81% (862/2992)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36,25% (1082/2985)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8A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+7,44 п.п.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+25,82%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[+5,07; +9,81] п.п.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97,63% (2921/2992)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98,83% (2950/2985)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8A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+1,20 п.п.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+1,23%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[+0,53; +1,87] п.п.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всех трёх тестах p-value &lt; 0,05: нулевая гипотеза отвергается.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эффект важен для бизнеса и где его границы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Значимость для бизнеса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 на 5–7 п.п. выше: больше школьников возвращается и занимается дольше.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ведёт к росту LTV и снижает нагрузку на привлечение новых пользователей.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почти на потолке (97,6%), поэтому +1,2 п.п. — скромный, но реальный эффект.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стоит учесть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9202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Измерены только три метрики, защитных метрик (guardrail) нет. Формально нельзя утверждать, что негативных эффектов нет.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шёл 3 недели: эффект новизны мог быть частью прироста.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на LTV и выручку выведен логически, напрямую не измерялся.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Рекомендация: раскатить геймификацию на всех пользователей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три метрики значимо улучшились, а сильнее всего выросло долгосрочное удержание.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 напрямую нацелена на мотивацию к регулярным занятиям, и результат согласуется с гипотезой.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невысокие: наблюдаемых негативных эффектов в измеренных метриках нет.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154680"/>
            <a:ext cx="8229600" cy="1371600"/>
          </a:xfrm>
          <a:prstGeom prst="rect">
            <a:avLst/>
          </a:prstGeom>
          <a:solidFill>
            <a:srgbClr val="22344F"/>
          </a:solidFill>
          <a:ln w="12700">
            <a:solidFill>
              <a:srgbClr val="2234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2461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шаги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Раскатывать поэтапно, оставив небольшую контрольную группу для отслеживания эффекта новизны. Добавить защитные метрики: время в продукте, качество решений, жалобы, отток на длинном горизонте.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A/B-тест геймификации: отчёт</dc:title>
  <dc:subject>PptxGenJS Presentation</dc:subject>
  <dc:creator>PptxGenJS</dc:creator>
  <cp:lastModifiedBy>PptxGenJS</cp:lastModifiedBy>
  <cp:revision>1</cp:revision>
  <dcterms:created xsi:type="dcterms:W3CDTF">2026-10-11T08:58:39Z</dcterms:created>
  <dcterms:modified xsi:type="dcterms:W3CDTF">2026-10-11T08:58:39Z</dcterms:modified>
</cp:coreProperties>
</file>